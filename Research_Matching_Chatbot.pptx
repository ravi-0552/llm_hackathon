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58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2.png"/><Relationship Id="rId5" Type="http://schemas.openxmlformats.org/officeDocument/2006/relationships/image" Target="../media/image20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64008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64008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146304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46304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1371600"/>
            <a:ext cx="822960" cy="8229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79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  •  </a:t>
            </a:r>
            <a:r>
              <a:rPr lang="en-US" sz="1500" b="1" kern="0" spc="300">
                <a:solidFill>
                  <a:srgbClr val="F79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Matching Chatbot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Faculty Recommendation &amp; Research Assistance System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011680" cy="2743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79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Ravichandra Raj  (25881A05JM)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Sarthak  (25881A05KB)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Vardhaman College of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mentor shouldn't be guesswork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22225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expertise, research interests, and publications live across disconnected sources.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1488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21" y="222254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Time-Consuming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17920" y="27432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hours cross-checking departments instead of starting real research.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61" y="450854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416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Non-Personalized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directories don't match a student's specific interest to the right professor.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94360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4348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621" y="450854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416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to Scale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217920" y="50292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have no easy way to track trends or discover collaborators across the department.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agentic pipeline, six integrated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22199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6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618" y="2317090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142232" y="196596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22392" y="222199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0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490" y="2317090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9392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(RAG)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690104" y="196596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970264" y="222199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4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362" y="2317090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27264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94360" y="438912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874520" y="464515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8" name="Image 3" descr="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618" y="4740250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5532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142232" y="438912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22392" y="464515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22" name="Image 4" descr="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7490" y="4740250"/>
            <a:ext cx="541325" cy="5413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79392" y="5532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Reasoning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690104" y="4389120"/>
            <a:ext cx="32918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970264" y="4645152"/>
            <a:ext cx="731520" cy="7315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26" name="Image 5" descr="icons/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5362" y="4740250"/>
            <a:ext cx="541325" cy="5413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27264" y="5532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detects whether the user is a student or a professor, then routes the query through the right workflow.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icons/grad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20313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faculty members based on student research interests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34486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37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semantic search over faculty profiles with match scores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486598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754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professors with research trend analysis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309360" y="19659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4" name="Image 3" descr="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740" y="203134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faculty collaboration opportunities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309360" y="33832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" name="Image 4" descr="icons/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740" y="344866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95160" y="3337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departmental research gaps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309360" y="48006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0" name="Image 5" descr="icons/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4740" y="4865980"/>
            <a:ext cx="372161" cy="37216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47548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explainable, human-in-the-loop recommendations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40080" y="598932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23" name="Image 6" descr="icons/clip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460" y="6054700"/>
            <a:ext cx="372161" cy="37216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25880" y="5943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 in faculty mentor selection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0" descr="architecture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965960"/>
            <a:ext cx="10607040" cy="1603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97873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intent classification → student/professor workflow → retrieval → Gemini response.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983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239512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8" name="Image 1" descr="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5304892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56967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or professor asks a natural-language question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25112" y="4983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5239512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3" name="Image 2" descr="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092" y="5304892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3792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Routing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53712" y="56967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intent, retrieval need, and which tools to call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01584" y="4983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30184" y="5239512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564" y="5304892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70264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Output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330184" y="56967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responds using real faculty data and live trends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240280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6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23353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240280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1" name="Image 1" descr="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378" y="233537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376672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240280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16" name="Image 2" descr="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850" y="23353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Embeddings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53144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867912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1" name="Image 3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6" y="3963010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600200" y="41696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54787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867912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26" name="Image 4" descr="icons/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378" y="3963010"/>
            <a:ext cx="541325" cy="5413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376672" y="41696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orchestration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54787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867912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1" name="Image 5" descr="icons/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850" y="3963010"/>
            <a:ext cx="541325" cy="5413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Search API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153144" y="41696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research trends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17550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495544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36" name="Image 6" descr="icons/comme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06" y="5590642"/>
            <a:ext cx="541325" cy="5413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5376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38" name="Text 29"/>
          <p:cNvSpPr/>
          <p:nvPr/>
        </p:nvSpPr>
        <p:spPr>
          <a:xfrm>
            <a:off x="1600200" y="5797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4325112" y="517550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26280" y="5495544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41" name="Image 7" descr="icons/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1378" y="5590642"/>
            <a:ext cx="541325" cy="5413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76672" y="5376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550" dirty="0"/>
          </a:p>
        </p:txBody>
      </p:sp>
      <p:sp>
        <p:nvSpPr>
          <p:cNvPr id="43" name="Text 33"/>
          <p:cNvSpPr/>
          <p:nvPr/>
        </p:nvSpPr>
        <p:spPr>
          <a:xfrm>
            <a:off x="5376672" y="5797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101584" y="517550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02752" y="5495544"/>
            <a:ext cx="731520" cy="731520"/>
          </a:xfrm>
          <a:prstGeom prst="ellipse">
            <a:avLst/>
          </a:prstGeom>
          <a:solidFill>
            <a:srgbClr val="2E5C8A"/>
          </a:solidFill>
          <a:ln/>
        </p:spPr>
      </p:sp>
      <p:pic>
        <p:nvPicPr>
          <p:cNvPr id="46" name="Image 8" descr="icons/githu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7850" y="5590642"/>
            <a:ext cx="541325" cy="54132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153144" y="5376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50" dirty="0"/>
          </a:p>
        </p:txBody>
      </p:sp>
      <p:sp>
        <p:nvSpPr>
          <p:cNvPr id="48" name="Text 37"/>
          <p:cNvSpPr/>
          <p:nvPr/>
        </p:nvSpPr>
        <p:spPr>
          <a:xfrm>
            <a:off x="9153144" y="5797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79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turn, the LangGraph agent autonomously decides: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6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23056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2199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retrieval (RAG) is required for this query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85800" y="301752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9" name="Image 1" descr="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308290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99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live web search is needed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2" name="Image 2" descr="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80" y="386014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764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workflow — student or professor — should execute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5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80" y="463738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55371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should be invoked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685800" y="5349240"/>
            <a:ext cx="502920" cy="50292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18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180" y="541462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53309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user confirmation is required before finalizing an action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autonomous decision-making and tool orchestration — not a fixed, hard-coded pipeline.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works on NLP?" → semantic match with faculty guides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05610" cy="1188720"/>
          </a:xfrm>
          <a:prstGeom prst="roundRect">
            <a:avLst>
              <a:gd name="adj" fmla="val 6154"/>
            </a:avLst>
          </a:prstGeom>
          <a:solidFill>
            <a:srgbClr val="9BBB59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468880"/>
            <a:ext cx="17593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54250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8298" y="2468880"/>
            <a:ext cx="1905610" cy="1188720"/>
          </a:xfrm>
          <a:prstGeom prst="roundRect">
            <a:avLst>
              <a:gd name="adj" fmla="val 6154"/>
            </a:avLst>
          </a:prstGeom>
          <a:solidFill>
            <a:srgbClr val="8064A2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11450" y="2468880"/>
            <a:ext cx="17593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converted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embeddings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43907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7955" y="2468880"/>
            <a:ext cx="1905610" cy="1188720"/>
          </a:xfrm>
          <a:prstGeom prst="roundRect">
            <a:avLst>
              <a:gd name="adj" fmla="val 6154"/>
            </a:avLst>
          </a:prstGeom>
          <a:solidFill>
            <a:srgbClr val="4BACC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01107" y="2468880"/>
            <a:ext cx="17593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ChromaDB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3565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17613" y="2468880"/>
            <a:ext cx="1905610" cy="1188720"/>
          </a:xfrm>
          <a:prstGeom prst="roundRect">
            <a:avLst>
              <a:gd name="adj" fmla="val 6154"/>
            </a:avLst>
          </a:prstGeom>
          <a:solidFill>
            <a:srgbClr val="4BACC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0765" y="2468880"/>
            <a:ext cx="17593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retrieved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3222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07270" y="2468880"/>
            <a:ext cx="1905610" cy="1188720"/>
          </a:xfrm>
          <a:prstGeom prst="roundRect">
            <a:avLst>
              <a:gd name="adj" fmla="val 6154"/>
            </a:avLst>
          </a:prstGeom>
          <a:solidFill>
            <a:srgbClr val="F7964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0422" y="2468880"/>
            <a:ext cx="17593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explains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suitable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0325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a free-form interest, e.g. “Who works on NLP?”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46227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47141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is embedded using the Gemini embedding model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91032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returns the closest faculty profiles by cosine similarity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53492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matches are ranked with a similarity score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779008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779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57881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a short, grounded explanation of the fit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trending in NLP?" → live trends matched against faculty expertise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9BBB59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asks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11680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95728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7964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need for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knowledge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50208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34256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4BACC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07408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retrieves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research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88736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4BACC6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database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queried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27264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11312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8064A2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84464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compares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vs. expertise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65792" y="2395728"/>
            <a:ext cx="384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49840" y="246888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0504D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22992" y="24688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suggestions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" y="39776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asks a research-related question, e.g. “What's trending in NLP?”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398264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439826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live external knowledge is needed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18888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18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481888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retrieves the latest research trends from the web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239512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239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" y="5239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database is queried for matching departmental expertise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660136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24128" y="566013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compares external trends against faculty coverage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6080760"/>
            <a:ext cx="347472" cy="34747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080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4128" y="608076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surfaces collaboration ideas and research gaps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GUESSED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 Pipeline</a:t>
            </a:r>
            <a:endParaRPr lang="en-US" sz="3200" dirty="0"/>
          </a:p>
        </p:txBody>
      </p:sp>
      <p:pic>
        <p:nvPicPr>
          <p:cNvPr id="4" name="Image 0" descr="ra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606040"/>
            <a:ext cx="10789920" cy="8920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18123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faculty recommendation is grounded in real institutional data — not the model’s unguided assumptions.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566928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75" y="5746547"/>
            <a:ext cx="439826" cy="439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Faculty Profiles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5897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ChromaDB with rich research-area metadata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25112" y="53492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26280" y="566928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547" y="574654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9512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239512" y="5897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most relevant profiles for each query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01584" y="53492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5669280"/>
            <a:ext cx="594360" cy="59436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3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019" y="5746547"/>
            <a:ext cx="439826" cy="439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15984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015984" y="58978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confirms before logging any final decision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icons/grad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3116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Features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recommendation with match scores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 matching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4288536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profile search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855464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5422392"/>
            <a:ext cx="109728" cy="109728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192024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1F3864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20" name="Image 1" descr="icons/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2311603"/>
            <a:ext cx="405994" cy="40599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Features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583680" y="3154680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trend analysis (live)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583680" y="3721608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suggestions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583680" y="4288536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detection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583680" y="4855464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expertise analysis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583680" y="5422392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 recommendations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" cy="9144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548640"/>
            <a:ext cx="91440" cy="9144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548640"/>
            <a:ext cx="91440" cy="9144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91440" cy="9144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005840"/>
            <a:ext cx="91440" cy="91440"/>
          </a:xfrm>
          <a:prstGeom prst="ellipse">
            <a:avLst/>
          </a:prstGeom>
          <a:solidFill>
            <a:srgbClr val="F79646"/>
          </a:solidFill>
          <a:ln/>
        </p:spPr>
      </p:sp>
      <p:sp>
        <p:nvSpPr>
          <p:cNvPr id="7" name="Shape 5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solidFill>
            <a:srgbClr val="F79646"/>
          </a:solidFill>
          <a:ln/>
        </p:spPr>
      </p:sp>
      <p:pic>
        <p:nvPicPr>
          <p:cNvPr id="8" name="Image 0" descr="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15" y="1319479"/>
            <a:ext cx="744322" cy="7443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0" y="33375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grateful to the organizers of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374904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79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“Building AI Agents: From LLMs to Deployable Multi-Agent Systems”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0" y="44348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guidance, mentorship, and opportunity to build this project.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88636" y="5074920"/>
            <a:ext cx="2011680" cy="1828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4" name="Text 11"/>
          <p:cNvSpPr/>
          <p:nvPr/>
        </p:nvSpPr>
        <p:spPr>
          <a:xfrm>
            <a:off x="0" y="5349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Ravichandra Raj (25881A05JM)  •  N. Sarthak (25881A05KB)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Vardhaman College of Engineering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Matching Chatbot</dc:title>
  <dc:subject>PptxGenJS Presentation</dc:subject>
  <dc:creator>B Ravichandra Raj, N Sarthak</dc:creator>
  <cp:lastModifiedBy>Sarthak Neeradi</cp:lastModifiedBy>
  <cp:revision>2</cp:revision>
  <dcterms:created xsi:type="dcterms:W3CDTF">2026-07-04T19:05:23Z</dcterms:created>
  <dcterms:modified xsi:type="dcterms:W3CDTF">2026-07-04T19:08:34Z</dcterms:modified>
</cp:coreProperties>
</file>